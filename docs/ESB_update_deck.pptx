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9499" autoAdjust="0"/>
  </p:normalViewPr>
  <p:slideViewPr>
    <p:cSldViewPr snapToGrid="0" snapToObjects="1">
      <p:cViewPr varScale="1">
        <p:scale>
          <a:sx n="89" d="100"/>
          <a:sy n="89" d="100"/>
        </p:scale>
        <p:origin x="139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7398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[slide id 1] Where we are (TL;DR)</a:t>
            </a:r>
          </a:p>
          <a:p>
            <a:r>
              <a:t>shapes: esb:id:1 (title), esb:body</a:t>
            </a:r>
          </a:p>
          <a:p/>
          <a:p>
            <a:r>
              <a:t>StandardScaler fit on train only, persisted per model. The 17-LT campaign runs sequentially per lead time so per-LT analysis can start midway.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[slide id 1b] Data prep &amp; lead-time FAQ</a:t>
            </a:r>
          </a:p>
          <a:p>
            <a:r>
              <a:t>shapes: esb:id:1b (title), esb:body</a:t>
            </a:r>
          </a:p>
          <a:p/>
          <a:p>
            <a:r>
              <a:t>Coworker FAQ slide. Live feed answer: the operational system feeds the persisted scaler + model the same lagged-column layout used in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[slide id 2] Why repetitions matter (the problem)</a:t>
            </a:r>
          </a:p>
          <a:p>
            <a:r>
              <a:t>shapes: esb:id:2 (title), esb:body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[slide id 3] Phased tuning plan (the design)</a:t>
            </a:r>
          </a:p>
          <a:p>
            <a:r>
              <a:t>shapes: esb:id:3 (title), esb:body, esb:image:0 (funnel_phases.png)</a:t>
            </a:r>
          </a:p>
          <a:p/>
          <a:p>
            <a:r>
              <a:t>2021 is out-of-distribution; ranking on it would tune to one anomalous event. Diagram from scripts/make_deck_visuals.py (matplotlib version of the doc's mermaid).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[slide id 4] Rank-stability pilots (does 3 reps suffice?)</a:t>
            </a:r>
          </a:p>
          <a:p>
            <a:r>
              <a:t>shapes: esb:id:4 (title), esb:body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[slide id 5] Interim results: rank stability (mid-experiment, not final)</a:t>
            </a:r>
          </a:p>
          <a:p>
            <a:r>
              <a:t>shapes: esb:id:5 (title), esb:table, esb:body, esb:image:0 (stability_spearman_all_configs.png), esb:image:1 (stability_top10_overlap.png)</a:t>
            </a:r>
          </a:p>
          <a:p>
            <a:r>
              <a:t>rerun-to-refresh: python scripts/tuning_tests/run_all_tests.py --shards 1 11 21 23 28 31 --max-reps 10 --out-dir results/tuning_tests_phase1</a:t>
            </a:r>
          </a:p>
          <a:p/>
          <a:p>
            <a:r>
              <a:t>Caveats: (a) k = max row is trivially 1.0 and high-k rows share most data with the reference — only low-k rows carry evidential weight; (b) shards are contiguous activation-biased slices; selu + rotations 1-3 blind spot is being closed by shards 23/28 — RE-CHECK these numbers after rerunning the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[slide id 5b] Interim results: seed-noise heterogeneity</a:t>
            </a:r>
          </a:p>
          <a:p>
            <a:r>
              <a:t>shapes: esb:id:5b (title), esb:body, esb:image:0 (box_neurons.png), esb:image:1 (box_num_layers.png)</a:t>
            </a:r>
          </a:p>
          <a:p>
            <a:r>
              <a:t>rerun-to-refresh: python scripts/tuning_tests/run_all_tests.py --shards 1 11 21 23 28 31 --max-reps 10 --out-dir results/tuning_tests_phase1</a:t>
            </a:r>
          </a:p>
          <a:p/>
          <a:p>
            <a:r>
              <a:t>Box charts: seed-noise (rel_std) by hyperparameter value. Companion scatter_&lt;param&gt;.png charts (config mean vs std) are in the same folder if a quality-vs-stability view is asked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[slide id 6] Campaign mechanics (sharding + resume)</a:t>
            </a:r>
          </a:p>
          <a:p>
            <a:r>
              <a:t>shapes: esb:id:6 (title), esb:body, esb:image:0 (sharding_map.png)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[slide id 7] The 17-lead-time extension</a:t>
            </a:r>
          </a:p>
          <a:p>
            <a:r>
              <a:t>shapes: esb:id:7 (title), esb:body, esb:image:0 (leadtime_ladder.png)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[slide id 8] Infrastructure recap (what got built)</a:t>
            </a:r>
          </a:p>
          <a:p>
            <a:r>
              <a:t>shapes: esb:id:8 (title), esb:body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[slide id 9] Phase-2 side experiment: early-stopping calibration</a:t>
            </a:r>
          </a:p>
          <a:p>
            <a:r>
              <a:t>shapes: esb:id:9 (title), esb:body, esb:image:0 (patience_fraction.png)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[slide id 10] Next steps</a:t>
            </a:r>
          </a:p>
          <a:p>
            <a:r>
              <a:t>shapes: esb:id:10 (title), esb:body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[slide id 11] Discussion: training/serving skew (one theme, three instances)</a:t>
            </a:r>
          </a:p>
          <a:p>
            <a:r>
              <a:t>shapes: esb:id:11 (title), esb:body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[slide id refs] References</a:t>
            </a:r>
          </a:p>
          <a:p>
            <a:r>
              <a:t>shapes: esb:id:refs (title), esb:body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b:id:1"/>
          <p:cNvSpPr txBox="1"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/>
            </a:pPr>
            <a:r>
              <a:t>Where we are (TL;DR)</a:t>
            </a:r>
          </a:p>
        </p:txBody>
      </p:sp>
      <p:sp>
        <p:nvSpPr>
          <p:cNvPr id="3" name="esb:body"/>
          <p:cNvSpPr txBox="1"/>
          <p:nvPr/>
        </p:nvSpPr>
        <p:spPr>
          <a:xfrm>
            <a:off x="457200" y="1371600"/>
            <a:ext cx="11277295" cy="2041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• Scaled-MAPE grid campaign COMPLETE for the 4 core lead times: 2,880 jobs</a:t>
            </a:r>
          </a:p>
          <a:p>
            <a:pPr lvl="1">
              <a:spcAft>
                <a:spcPts val="800"/>
              </a:spcAft>
              <a:defRPr sz="1400"/>
            </a:pPr>
            <a:r>
              <a:t>– 4 lead times x 4 rotations x 3 activations x 3 layer counts x 5 widths x 4 dropout rates</a:t>
            </a:r>
          </a:p>
          <a:p>
            <a:pPr>
              <a:spcAft>
                <a:spcPts val="800"/>
              </a:spcAft>
              <a:defRPr sz="1600"/>
            </a:pPr>
            <a:r>
              <a:t>• 17-lead-time extension (3-114 h) running now, one lead time at a time</a:t>
            </a:r>
          </a:p>
          <a:p>
            <a:pPr>
              <a:spcAft>
                <a:spcPts val="800"/>
              </a:spcAft>
              <a:defRPr sz="1600"/>
            </a:pPr>
            <a:r>
              <a:t>• Repetition pilots done: shard 1/11/21/31 @ 10 reps (one per lead time)</a:t>
            </a:r>
          </a:p>
          <a:p>
            <a:pPr>
              <a:spcAft>
                <a:spcPts val="800"/>
              </a:spcAft>
              <a:defRPr sz="1600"/>
            </a:pPr>
            <a:r>
              <a:t>• Next gate: rank-stability analysis decides whether 3 reps suffice for Phase-1 screening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b:id:1b"/>
          <p:cNvSpPr txBox="1"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/>
            </a:pPr>
            <a:r>
              <a:t>Data prep &amp; lead-time FAQ</a:t>
            </a:r>
          </a:p>
        </p:txBody>
      </p:sp>
      <p:sp>
        <p:nvSpPr>
          <p:cNvPr id="3" name="esb:body"/>
          <p:cNvSpPr txBox="1"/>
          <p:nvPr/>
        </p:nvSpPr>
        <p:spPr>
          <a:xfrm>
            <a:off x="457200" y="1371600"/>
            <a:ext cx="11277295" cy="20518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• Normalization: StandardScaler fit on TRAINING years only (no leakage); scaler persisted as .joblib next to each model</a:t>
            </a:r>
          </a:p>
          <a:p>
            <a:pPr lvl="1">
              <a:spcAft>
                <a:spcPts val="800"/>
              </a:spcAft>
              <a:defRPr sz="1400"/>
            </a:pPr>
            <a:r>
              <a:t>– pre-refactor ESB pipeline had NO scaling at all</a:t>
            </a:r>
          </a:p>
          <a:p>
            <a:pPr>
              <a:spcAft>
                <a:spcPts val="800"/>
              </a:spcAft>
              <a:defRPr sz="1600"/>
            </a:pPr>
            <a:r>
              <a:t>• Gaps: rows with NaN / -999 dropped after lagged columns are built; no imputation</a:t>
            </a:r>
          </a:p>
          <a:p>
            <a:pPr>
              <a:spcAft>
                <a:spcPts val="800"/>
              </a:spcAft>
              <a:defRPr sz="1600"/>
            </a:pPr>
            <a:r>
              <a:t>• Lead times: all 21 — the full 6-hourly ladder 3 h to 120 h (12/48/96/120 ran first)</a:t>
            </a:r>
          </a:p>
          <a:p>
            <a:pPr>
              <a:spcAft>
                <a:spcPts val="800"/>
              </a:spcAft>
              <a:defRPr sz="1600"/>
            </a:pPr>
            <a:r>
              <a:t>• Tuning results? Yes, interim: full 4-LT grid trained; pilots analyzed (slide 5)</a:t>
            </a:r>
          </a:p>
          <a:p>
            <a:pPr>
              <a:spcAft>
                <a:spcPts val="800"/>
              </a:spcAft>
              <a:defRPr sz="1600"/>
            </a:pPr>
            <a:r>
              <a:t>• Live data feed: operational-deployment question, out of scope for this update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b:id:2"/>
          <p:cNvSpPr txBox="1"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/>
            </a:pPr>
            <a:r>
              <a:t>Why repetitions matter (the problem)</a:t>
            </a:r>
          </a:p>
        </p:txBody>
      </p:sp>
      <p:sp>
        <p:nvSpPr>
          <p:cNvPr id="3" name="esb:body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• A single run's validation score is a draw from a distribution: weight init, shuffling, GPU nondeterminism</a:t>
            </a:r>
          </a:p>
          <a:p>
            <a:pPr>
              <a:spcAft>
                <a:spcPts val="800"/>
              </a:spcAft>
              <a:defRPr sz="1600"/>
            </a:pPr>
            <a:r>
              <a:t>• 1-rep rankings risk selecting noise: seed choice alone shifts accuracy by amounts comparable to published improvements (Picard [3]; Bouthillier [1])</a:t>
            </a:r>
          </a:p>
          <a:p>
            <a:pPr>
              <a:spcAft>
                <a:spcPts val="800"/>
              </a:spcAft>
              <a:defRPr sz="1600"/>
            </a:pPr>
            <a:r>
              <a:t>• Budget reality: 2,880 jobs x 10 reps ~ multi-week compute</a:t>
            </a:r>
          </a:p>
          <a:p>
            <a:pPr>
              <a:spcAft>
                <a:spcPts val="800"/>
              </a:spcAft>
              <a:defRPr sz="1600"/>
            </a:pPr>
            <a:r>
              <a:t>• Goal: the CHEAPEST rep count that preserves the ranking, not the most statistically pure 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b:id:3"/>
          <p:cNvSpPr txBox="1"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/>
            </a:pPr>
            <a:r>
              <a:t>Phased tuning plan (the design)</a:t>
            </a:r>
          </a:p>
        </p:txBody>
      </p:sp>
      <p:sp>
        <p:nvSpPr>
          <p:cNvPr id="3" name="esb:body"/>
          <p:cNvSpPr txBox="1"/>
          <p:nvPr/>
        </p:nvSpPr>
        <p:spPr>
          <a:xfrm>
            <a:off x="457200" y="1371600"/>
            <a:ext cx="6675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• Phase 1 — screen the full 2,880-config grid at 3 repetitions; rank by mean val metric (low std as tiebreak)</a:t>
            </a:r>
          </a:p>
          <a:p>
            <a:pPr>
              <a:spcAft>
                <a:spcPts val="800"/>
              </a:spcAft>
              <a:defRPr sz="1600"/>
            </a:pPr>
            <a:r>
              <a:t>• Phase 2 — confirm top ~10-20 configs per lead time at 10+ repetitions</a:t>
            </a:r>
          </a:p>
          <a:p>
            <a:pPr>
              <a:spcAft>
                <a:spcPts val="800"/>
              </a:spcAft>
              <a:defRPr sz="1600"/>
            </a:pPr>
            <a:r>
              <a:t>• Winner per lead time: best mean val + low std; 2021 (Uri) used as VETO only</a:t>
            </a:r>
          </a:p>
          <a:p>
            <a:pPr>
              <a:spcAft>
                <a:spcPts val="800"/>
              </a:spcAft>
              <a:defRPr sz="1600"/>
            </a:pPr>
            <a:r>
              <a:t>• Deliverable: the repetition closest to the config's mean (a typical model, not a lucky one)</a:t>
            </a:r>
          </a:p>
          <a:p>
            <a:pPr>
              <a:spcAft>
                <a:spcPts val="800"/>
              </a:spcAft>
              <a:defRPr sz="1600"/>
            </a:pPr>
            <a:r>
              <a:t>• Screen-then-confirm mirrors successive halving / Hyperband [4]; mean±std reporting follows Show Your Work [2]</a:t>
            </a:r>
          </a:p>
        </p:txBody>
      </p:sp>
      <p:pic>
        <p:nvPicPr>
          <p:cNvPr id="4" name="esb:image: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371600"/>
            <a:ext cx="4419295" cy="23125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b:id:4"/>
          <p:cNvSpPr txBox="1"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/>
            </a:pPr>
            <a:r>
              <a:t>Rank-stability pilots (does 3 reps suffice?)</a:t>
            </a:r>
          </a:p>
        </p:txBody>
      </p:sp>
      <p:sp>
        <p:nvSpPr>
          <p:cNvPr id="3" name="esb:body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• Question: does the top-10 list at 3 reps match the list at 10-15 reps?</a:t>
            </a:r>
          </a:p>
          <a:p>
            <a:pPr>
              <a:spcAft>
                <a:spcPts val="800"/>
              </a:spcAft>
              <a:defRPr sz="1600"/>
            </a:pPr>
            <a:r>
              <a:t>• Design: one pilot shard per lead time — shard 1 (LT12, 15 reps); 11/21/31 (LT48/96/120, 10 reps)</a:t>
            </a:r>
          </a:p>
          <a:p>
            <a:pPr lvl="1">
              <a:spcAft>
                <a:spcPts val="800"/>
              </a:spcAft>
              <a:defRPr sz="1400"/>
            </a:pPr>
            <a:r>
              <a:t>– ~10 h of compute instead of ~50 h for whole-grid repetition</a:t>
            </a:r>
          </a:p>
          <a:p>
            <a:pPr>
              <a:spcAft>
                <a:spcPts val="800"/>
              </a:spcAft>
              <a:defRPr sz="1600"/>
            </a:pPr>
            <a:r>
              <a:t>• Statistics per shard: top-10 overlap + Spearman rank correlation, k-rep vs all-rep ranking [1,2]</a:t>
            </a:r>
          </a:p>
          <a:p>
            <a:pPr>
              <a:spcAft>
                <a:spcPts val="800"/>
              </a:spcAft>
              <a:defRPr sz="1600"/>
            </a:pPr>
            <a:r>
              <a:t>• Decision rule: high overlap + high Spearman on ALL lead times -&gt; 3-rep Phase 1; else raise reps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b:id:5"/>
          <p:cNvSpPr txBox="1"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/>
            </a:pPr>
            <a:r>
              <a:t>Interim results: rank stability (mid-experiment, not final)</a:t>
            </a:r>
          </a:p>
        </p:txBody>
      </p:sp>
      <p:sp>
        <p:nvSpPr>
          <p:cNvPr id="4" name="esb:body"/>
          <p:cNvSpPr txBox="1"/>
          <p:nvPr/>
        </p:nvSpPr>
        <p:spPr>
          <a:xfrm>
            <a:off x="457200" y="2834640"/>
            <a:ext cx="66751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• Global ordering stabilizes fast: Spearman &gt;= 0.90 on every shard by 3 reps</a:t>
            </a:r>
          </a:p>
          <a:p>
            <a:pPr>
              <a:spcAft>
                <a:spcPts val="800"/>
              </a:spcAft>
              <a:defRPr sz="1600"/>
            </a:pPr>
            <a:r>
              <a:t>• Top-10 MEMBERSHIP is the noisy part; strict bar (&gt;=70% overlap + Sp&gt;=0.9 everywhere) first met at k = 4</a:t>
            </a:r>
          </a:p>
          <a:p>
            <a:pPr>
              <a:spcAft>
                <a:spcPts val="800"/>
              </a:spcAft>
              <a:defRPr sz="1600"/>
            </a:pPr>
            <a:r>
              <a:t>• Recommendation: screen at 3 reps, carry the TOP-20 forward — the cheap phase must not lose survivors, it needn't order them [4]</a:t>
            </a:r>
          </a:p>
          <a:p>
            <a:pPr>
              <a:spcAft>
                <a:spcPts val="800"/>
              </a:spcAft>
              <a:defRPr sz="1600"/>
            </a:pPr>
            <a:r>
              <a:t>• Metric agreement: val_mape vs val_mae top-20 overlap 95-100%, Sp &gt;= 0.98 — metric choice is a non-issue</a:t>
            </a:r>
          </a:p>
        </p:txBody>
      </p:sp>
      <p:graphicFrame>
        <p:nvGraphicFramePr>
          <p:cNvPr id="16" name="esb:table"/>
          <p:cNvGraphicFramePr>
            <a:graphicFrameLocks noGrp="1"/>
          </p:cNvGraphicFramePr>
          <p:nvPr/>
        </p:nvGraphicFramePr>
        <p:xfrm>
          <a:off x="457200" y="1371600"/>
          <a:ext cx="66751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5040"/>
                <a:gridCol w="2225040"/>
                <a:gridCol w="2225040"/>
              </a:tblGrid>
              <a:tr h="320040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reps 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top-10 overlap (LT12/48/96/120)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Spearman (worst shard)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0.5 / 0.6 / 0.5 / 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0.73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0.8 / 0.7 / 0.6 / 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0.91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0.8 / 0.8 / 0.7 / 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0.93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7" name="esb:image: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2387" y="1371600"/>
            <a:ext cx="3804920" cy="2446020"/>
          </a:xfrm>
          <a:prstGeom prst="rect">
            <a:avLst/>
          </a:prstGeom>
        </p:spPr>
      </p:pic>
      <p:pic>
        <p:nvPicPr>
          <p:cNvPr id="18" name="esb:image: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2387" y="3954780"/>
            <a:ext cx="3804920" cy="24460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b:id:5b"/>
          <p:cNvSpPr txBox="1"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/>
            </a:pPr>
            <a:r>
              <a:t>Interim results: seed-noise heterogeneity</a:t>
            </a:r>
          </a:p>
        </p:txBody>
      </p:sp>
      <p:sp>
        <p:nvSpPr>
          <p:cNvPr id="3" name="esb:body"/>
          <p:cNvSpPr txBox="1"/>
          <p:nvPr/>
        </p:nvSpPr>
        <p:spPr>
          <a:xfrm>
            <a:off x="457200" y="1371600"/>
            <a:ext cx="6675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• Noise varies mainly with model SIZE: 128/256-neuron configs ~10x steadier than 16/32; 3-layer steadier than 1-layer</a:t>
            </a:r>
          </a:p>
          <a:p>
            <a:pPr>
              <a:spcAft>
                <a:spcPts val="800"/>
              </a:spcAft>
              <a:defRPr sz="1600"/>
            </a:pPr>
            <a:r>
              <a:t>• The likely winners are the most rankable configs — slide 5's table is pessimistic about the top of the leaderboard</a:t>
            </a:r>
          </a:p>
          <a:p>
            <a:pPr>
              <a:spcAft>
                <a:spcPts val="800"/>
              </a:spcAft>
              <a:defRPr sz="1600"/>
            </a:pPr>
            <a:r>
              <a:t>• Activation and dropout effects are small</a:t>
            </a:r>
          </a:p>
          <a:p>
            <a:pPr>
              <a:spcAft>
                <a:spcPts val="800"/>
              </a:spcAft>
              <a:defRPr sz="1600"/>
            </a:pPr>
            <a:r>
              <a:t>• Pilot blind spot (selu + rotations 1-3) closed by shards 23/28 — rerun confirms/updates this slide</a:t>
            </a:r>
          </a:p>
        </p:txBody>
      </p:sp>
      <p:pic>
        <p:nvPicPr>
          <p:cNvPr id="4" name="esb:image: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2387" y="1371600"/>
            <a:ext cx="3804920" cy="2446020"/>
          </a:xfrm>
          <a:prstGeom prst="rect">
            <a:avLst/>
          </a:prstGeom>
        </p:spPr>
      </p:pic>
      <p:pic>
        <p:nvPicPr>
          <p:cNvPr id="5" name="esb:image: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2387" y="3954780"/>
            <a:ext cx="3804920" cy="24460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b:id:6"/>
          <p:cNvSpPr txBox="1"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/>
            </a:pPr>
            <a:r>
              <a:t>Campaign mechanics (sharding + resume)</a:t>
            </a:r>
          </a:p>
        </p:txBody>
      </p:sp>
      <p:sp>
        <p:nvSpPr>
          <p:cNvPr id="3" name="esb:body"/>
          <p:cNvSpPr txBox="1"/>
          <p:nvPr/>
        </p:nvSpPr>
        <p:spPr>
          <a:xfrm>
            <a:off x="457200" y="1371600"/>
            <a:ext cx="6675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• 40 shards x 72 contiguous jobs; lead time is the outermost grid loop, so shards align with lead times</a:t>
            </a:r>
          </a:p>
          <a:p>
            <a:pPr lvl="1">
              <a:spcAft>
                <a:spcPts val="800"/>
              </a:spcAft>
              <a:defRPr sz="1400"/>
            </a:pPr>
            <a:r>
              <a:t>– shards 1-10 = LT12, 11-20 = LT48, 21-30 = LT96, 31-40 = LT120</a:t>
            </a:r>
          </a:p>
          <a:p>
            <a:pPr>
              <a:spcAft>
                <a:spcPts val="800"/>
              </a:spcAft>
              <a:defRPr sz="1600"/>
            </a:pPr>
            <a:r>
              <a:t>• One command per shard: esb run --profile mape_scaled --shard k/40</a:t>
            </a:r>
          </a:p>
          <a:p>
            <a:pPr>
              <a:spcAft>
                <a:spcPts val="800"/>
              </a:spcAft>
              <a:defRPr sz="1600"/>
            </a:pPr>
            <a:r>
              <a:t>• Per-shard CSV checkpointing: crash-safe resume, skip completed jobs, per-job duration_sec</a:t>
            </a:r>
          </a:p>
          <a:p>
            <a:pPr>
              <a:spcAft>
                <a:spcPts val="800"/>
              </a:spcAft>
              <a:defRPr sz="1600"/>
            </a:pPr>
            <a:r>
              <a:t>• esb status: cross-checks CSVs vs on-disk artifacts; ETA from MEDIAN per-job duration (old span method was inflated 15-45x by idle gaps)</a:t>
            </a:r>
          </a:p>
        </p:txBody>
      </p:sp>
      <p:pic>
        <p:nvPicPr>
          <p:cNvPr id="4" name="esb:image: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371600"/>
            <a:ext cx="4419295" cy="190393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b:id:7"/>
          <p:cNvSpPr txBox="1"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/>
            </a:pPr>
            <a:r>
              <a:t>The 17-lead-time extension</a:t>
            </a:r>
          </a:p>
        </p:txBody>
      </p:sp>
      <p:sp>
        <p:nvSpPr>
          <p:cNvPr id="3" name="esb:body"/>
          <p:cNvSpPr txBox="1"/>
          <p:nvPr/>
        </p:nvSpPr>
        <p:spPr>
          <a:xfrm>
            <a:off x="457200" y="1371600"/>
            <a:ext cx="6675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• Core campaign covered LT 12/48/96/120; operations want the full ladder (17 more lead times)</a:t>
            </a:r>
          </a:p>
          <a:p>
            <a:pPr>
              <a:spcAft>
                <a:spcPts val="800"/>
              </a:spcAft>
              <a:defRPr sz="1600"/>
            </a:pPr>
            <a:r>
              <a:t>• Same grid otherwise: 720 configs per lead time</a:t>
            </a:r>
          </a:p>
          <a:p>
            <a:pPr>
              <a:spcAft>
                <a:spcPts val="800"/>
              </a:spcAft>
              <a:defRPr sz="1600"/>
            </a:pPr>
            <a:r>
              <a:t>• Own profile (mape_scaled_17lt) and own output directory — shard bookkeeping can't collide with the core campaign</a:t>
            </a:r>
          </a:p>
          <a:p>
            <a:pPr>
              <a:spcAft>
                <a:spcPts val="800"/>
              </a:spcAft>
              <a:defRPr sz="1600"/>
            </a:pPr>
            <a:r>
              <a:t>• Running one lead time to completion at a time, so per-LT analysis starts as each finishes</a:t>
            </a:r>
          </a:p>
        </p:txBody>
      </p:sp>
      <p:pic>
        <p:nvPicPr>
          <p:cNvPr id="4" name="esb:image:0" descr="leadtime_ladd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175" y="4087906"/>
            <a:ext cx="10297976" cy="240433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b:id:8"/>
          <p:cNvSpPr txBox="1"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/>
            </a:pPr>
            <a:r>
              <a:t>Infrastructure recap (what got built)</a:t>
            </a:r>
          </a:p>
        </p:txBody>
      </p:sp>
      <p:sp>
        <p:nvSpPr>
          <p:cNvPr id="3" name="esb:body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• esb CLI: run (profiles, sharding, resume) / status (progress + artifact cross-check + ETA) / gui (schema-driven form) / help</a:t>
            </a:r>
          </a:p>
          <a:p>
            <a:pPr>
              <a:spcAft>
                <a:spcPts val="800"/>
              </a:spcAft>
              <a:defRPr sz="1600"/>
            </a:pPr>
            <a:r>
              <a:t>• Pipeline stages, low coupling: data prep -&gt; scaling (train-only fit, persisted .joblib) -&gt; training -&gt; metrics</a:t>
            </a:r>
          </a:p>
          <a:p>
            <a:pPr>
              <a:spcAft>
                <a:spcPts val="800"/>
              </a:spcAft>
              <a:defRPr sz="1600"/>
            </a:pPr>
            <a:r>
              <a:t>• Loud failures on misconfiguration (e.g. mixed-shard-denominator guard)</a:t>
            </a:r>
          </a:p>
          <a:p>
            <a:pPr>
              <a:spcAft>
                <a:spcPts val="800"/>
              </a:spcAft>
              <a:defRPr sz="1600"/>
            </a:pPr>
            <a:r>
              <a:t>• Philosophy: one command, one named profile, smart defaults, loud failures — complexity lives in the code, not the operator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b:id:9"/>
          <p:cNvSpPr txBox="1"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/>
            </a:pPr>
            <a:r>
              <a:t>Phase-2 side experiment: early-stopping calibration</a:t>
            </a:r>
          </a:p>
        </p:txBody>
      </p:sp>
      <p:sp>
        <p:nvSpPr>
          <p:cNvPr id="3" name="esb:body"/>
          <p:cNvSpPr txBox="1"/>
          <p:nvPr/>
        </p:nvSpPr>
        <p:spPr>
          <a:xfrm>
            <a:off x="457200" y="1371600"/>
            <a:ext cx="6675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• Current: early_stop_patience=25, lr_reducer_patience=15, min_delta=0.001</a:t>
            </a:r>
          </a:p>
          <a:p>
            <a:pPr>
              <a:spcAft>
                <a:spcPts val="800"/>
              </a:spcAft>
              <a:defRPr sz="1600"/>
            </a:pPr>
            <a:r>
              <a:t>• Patience is denominated in epochs and there is no universal value (Prechelt [5])</a:t>
            </a:r>
          </a:p>
          <a:p>
            <a:pPr>
              <a:spcAft>
                <a:spcPts val="800"/>
              </a:spcAft>
              <a:defRPr sz="1600"/>
            </a:pPr>
            <a:r>
              <a:t>• Training lengths span ~100 to 2,000+ epochs — patience 25 is ~25% of one run, ~1% of another</a:t>
            </a:r>
          </a:p>
          <a:p>
            <a:pPr>
              <a:spcAft>
                <a:spcPts val="800"/>
              </a:spcAft>
              <a:defRPr sz="1600"/>
            </a:pPr>
            <a:r>
              <a:t>• Suspect: min_delta=0.001 vs MAPE ~47 is 0.002% — 'any improvement counts', noise keeps resetting the counter</a:t>
            </a:r>
          </a:p>
          <a:p>
            <a:pPr>
              <a:spcAft>
                <a:spcPts val="800"/>
              </a:spcAft>
              <a:defRPr sz="1600"/>
            </a:pPr>
            <a:r>
              <a:t>• Plan: DO NOT touch mid-campaign; Phase 2 retrains top configs at patience 25 vs ~100 + larger min_delta</a:t>
            </a:r>
          </a:p>
          <a:p>
            <a:pPr>
              <a:spcAft>
                <a:spcPts val="800"/>
              </a:spcAft>
              <a:defRPr sz="1600"/>
            </a:pPr>
            <a:r>
              <a:t>• Epochs ~40 ms: extra patience is cheap, the asymmetric risk favors patience</a:t>
            </a:r>
          </a:p>
        </p:txBody>
      </p:sp>
      <p:pic>
        <p:nvPicPr>
          <p:cNvPr id="4" name="esb:image: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5577" y="2345166"/>
            <a:ext cx="4338918" cy="260335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b:id:10"/>
          <p:cNvSpPr txBox="1"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/>
            </a:pPr>
            <a:r>
              <a:t>Next steps</a:t>
            </a:r>
          </a:p>
        </p:txBody>
      </p:sp>
      <p:sp>
        <p:nvSpPr>
          <p:cNvPr id="3" name="esb:body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• 1. Per-activation seed-noise check on pilot data (closes slide-5 caveat b)</a:t>
            </a:r>
          </a:p>
          <a:p>
            <a:pPr>
              <a:spcAft>
                <a:spcPts val="800"/>
              </a:spcAft>
              <a:defRPr sz="1600"/>
            </a:pPr>
            <a:r>
              <a:t>• 2. Lock Phase-1 rep count (working answer: 3 reps + top-20 cut)</a:t>
            </a:r>
          </a:p>
          <a:p>
            <a:pPr>
              <a:spcAft>
                <a:spcPts val="800"/>
              </a:spcAft>
              <a:defRPr sz="1600"/>
            </a:pPr>
            <a:r>
              <a:t>• 3. Complete the 17-LT screen; run Phase 2 (top ~10-20/LT at 10+ reps)</a:t>
            </a:r>
          </a:p>
          <a:p>
            <a:pPr>
              <a:spcAft>
                <a:spcPts val="800"/>
              </a:spcAft>
              <a:defRPr sz="1600"/>
            </a:pPr>
            <a:r>
              <a:t>• 4. Phase-2 side experiment: early-stopping patience / min_delta calibration</a:t>
            </a:r>
          </a:p>
          <a:p>
            <a:pPr>
              <a:spcAft>
                <a:spcPts val="800"/>
              </a:spcAft>
              <a:defRPr sz="1600"/>
            </a:pPr>
            <a:r>
              <a:t>• 5. Select winners (mean val + std, 2021 veto); hand over the rep closest to the config mean per lead time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b:id:11"/>
          <p:cNvSpPr txBox="1"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/>
            </a:pPr>
            <a:r>
              <a:t>Discussion: training/serving skew (one theme, three instances)</a:t>
            </a:r>
          </a:p>
        </p:txBody>
      </p:sp>
      <p:sp>
        <p:nvSpPr>
          <p:cNvPr id="3" name="esb:body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• Theme: does the model see the same distribution live that it saw in training? Every prep gap = silent extrapolation</a:t>
            </a:r>
          </a:p>
          <a:p>
            <a:pPr>
              <a:spcAft>
                <a:spcPts val="800"/>
              </a:spcAft>
              <a:defRPr sz="1600"/>
            </a:pPr>
            <a:r>
              <a:t>• 1. Station outages — mask a station's columns in the test set and re-score (no retraining): graceful degradation or collapse?</a:t>
            </a:r>
          </a:p>
          <a:p>
            <a:pPr>
              <a:spcAft>
                <a:spcPts val="800"/>
              </a:spcAft>
              <a:defRPr sz="1600"/>
            </a:pPr>
            <a:r>
              <a:t>• 2. Outlier filtering — if training drops &gt;3.5-sigma readings but live doesn't, inference sees a distribution training never saw — and extremes ARE the cold-stunning events</a:t>
            </a:r>
          </a:p>
          <a:p>
            <a:pPr>
              <a:spcAft>
                <a:spcPts val="800"/>
              </a:spcAft>
              <a:defRPr sz="1600"/>
            </a:pPr>
            <a:r>
              <a:t>• 3. Gap-filling causality — any fill using a future window is impossible live; operational gap handling must be past-only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b:id:refs"/>
          <p:cNvSpPr txBox="1"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/>
            </a:pPr>
            <a:r>
              <a:t>References</a:t>
            </a:r>
          </a:p>
        </p:txBody>
      </p:sp>
      <p:sp>
        <p:nvSpPr>
          <p:cNvPr id="3" name="esb:body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• [1] Bouthillier et al., Accounting for Variance in ML Benchmarks, MLSys 2021</a:t>
            </a:r>
          </a:p>
          <a:p>
            <a:pPr>
              <a:spcAft>
                <a:spcPts val="800"/>
              </a:spcAft>
              <a:defRPr sz="1600"/>
            </a:pPr>
            <a:r>
              <a:t>• [2] Dodge et al., Show Your Work: Improved Reporting of Experimental Results, EMNLP 2019</a:t>
            </a:r>
          </a:p>
          <a:p>
            <a:pPr>
              <a:spcAft>
                <a:spcPts val="800"/>
              </a:spcAft>
              <a:defRPr sz="1600"/>
            </a:pPr>
            <a:r>
              <a:t>• [3] Picard, torch.manual_seed(3407) is all you need, arXiv:2109.08203, 2021</a:t>
            </a:r>
          </a:p>
          <a:p>
            <a:pPr>
              <a:spcAft>
                <a:spcPts val="800"/>
              </a:spcAft>
              <a:defRPr sz="1600"/>
            </a:pPr>
            <a:r>
              <a:t>• [4] Li et al., Hyperband, JMLR 18(185), 2018</a:t>
            </a:r>
          </a:p>
          <a:p>
            <a:pPr>
              <a:spcAft>
                <a:spcPts val="800"/>
              </a:spcAft>
              <a:defRPr sz="1600"/>
            </a:pPr>
            <a:r>
              <a:t>• [5] Prechelt, Early Stopping — But When?, Neural Networks: Tricks of the Trade, 1998/2012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sb:id:3b"/>
          <p:cNvSpPr txBox="1"/>
          <p:nvPr/>
        </p:nvSpPr>
        <p:spPr>
          <a:xfrm>
            <a:off x="457200" y="4572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/>
            </a:pPr>
            <a:r>
              <a:t>Phased tuning plan (the design) — v2 visual</a:t>
            </a:r>
          </a:p>
        </p:txBody>
      </p:sp>
      <p:sp>
        <p:nvSpPr>
          <p:cNvPr id="3" name="esb:body"/>
          <p:cNvSpPr txBox="1"/>
          <p:nvPr/>
        </p:nvSpPr>
        <p:spPr>
          <a:xfrm>
            <a:off x="457200" y="1371600"/>
            <a:ext cx="6675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• Phase 1 — screen the full 2,880-config grid at 3 repetitions; rank by mean val metric (low std as tiebreak)</a:t>
            </a:r>
          </a:p>
          <a:p>
            <a:pPr>
              <a:spcAft>
                <a:spcPts val="800"/>
              </a:spcAft>
              <a:defRPr sz="1600"/>
            </a:pPr>
            <a:r>
              <a:t>• Phase 2 — confirm top ~10-20 configs per lead time at 10+ repetitions</a:t>
            </a:r>
          </a:p>
          <a:p>
            <a:pPr>
              <a:spcAft>
                <a:spcPts val="800"/>
              </a:spcAft>
              <a:defRPr sz="1600"/>
            </a:pPr>
            <a:r>
              <a:t>• Winner per lead time: best mean val + low std; 2021 (Uri) used as VETO only</a:t>
            </a:r>
          </a:p>
          <a:p>
            <a:pPr>
              <a:spcAft>
                <a:spcPts val="800"/>
              </a:spcAft>
              <a:defRPr sz="1600"/>
            </a:pPr>
            <a:r>
              <a:t>• Deliverable: the repetition closest to the config's mean (a typical model, not a lucky one)</a:t>
            </a:r>
          </a:p>
          <a:p>
            <a:pPr>
              <a:spcAft>
                <a:spcPts val="800"/>
              </a:spcAft>
              <a:defRPr sz="1600"/>
            </a:pPr>
            <a:r>
              <a:t>• Screen-then-confirm mirrors successive halving / Hyperband [4]; mean±std reporting follows Show Your Work [2]</a:t>
            </a:r>
          </a:p>
        </p:txBody>
      </p:sp>
      <p:pic>
        <p:nvPicPr>
          <p:cNvPr id="4" name="esb:image:0" descr="funnel_phases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371600"/>
            <a:ext cx="4419295" cy="22504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744</TotalTime>
  <Words>2140</Words>
  <Application>Microsoft Office PowerPoint</Application>
  <PresentationFormat>Widescreen</PresentationFormat>
  <Paragraphs>132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Hector Marrero</cp:lastModifiedBy>
  <cp:revision>4</cp:revision>
  <dcterms:created xsi:type="dcterms:W3CDTF">2013-01-27T09:14:16Z</dcterms:created>
  <dcterms:modified xsi:type="dcterms:W3CDTF">2026-07-16T16:00:20Z</dcterms:modified>
  <cp:category/>
</cp:coreProperties>
</file>